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26679" y="777240"/>
            <a:ext cx="50292" cy="50292"/>
          </a:xfrm>
          <a:prstGeom prst="ellipse">
            <a:avLst/>
          </a:prstGeom>
          <a:solidFill>
            <a:srgbClr val="29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26679" y="1435607"/>
            <a:ext cx="50292" cy="50292"/>
          </a:xfrm>
          <a:prstGeom prst="ellipse">
            <a:avLst/>
          </a:prstGeom>
          <a:solidFill>
            <a:srgbClr val="29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26679" y="2093976"/>
            <a:ext cx="50292" cy="50292"/>
          </a:xfrm>
          <a:prstGeom prst="ellipse">
            <a:avLst/>
          </a:prstGeom>
          <a:solidFill>
            <a:srgbClr val="29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26679" y="2752344"/>
            <a:ext cx="50292" cy="50292"/>
          </a:xfrm>
          <a:prstGeom prst="ellipse">
            <a:avLst/>
          </a:prstGeom>
          <a:solidFill>
            <a:srgbClr val="29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26679" y="3410712"/>
            <a:ext cx="50292" cy="50292"/>
          </a:xfrm>
          <a:prstGeom prst="ellipse">
            <a:avLst/>
          </a:prstGeom>
          <a:solidFill>
            <a:srgbClr val="29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385048" y="777240"/>
            <a:ext cx="50292" cy="50292"/>
          </a:xfrm>
          <a:prstGeom prst="ellipse">
            <a:avLst/>
          </a:prstGeom>
          <a:solidFill>
            <a:srgbClr val="29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85048" y="1435607"/>
            <a:ext cx="50292" cy="50292"/>
          </a:xfrm>
          <a:prstGeom prst="ellipse">
            <a:avLst/>
          </a:prstGeom>
          <a:solidFill>
            <a:srgbClr val="29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85048" y="2093976"/>
            <a:ext cx="50292" cy="50292"/>
          </a:xfrm>
          <a:prstGeom prst="ellipse">
            <a:avLst/>
          </a:prstGeom>
          <a:solidFill>
            <a:srgbClr val="29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85048" y="2752344"/>
            <a:ext cx="50292" cy="50292"/>
          </a:xfrm>
          <a:prstGeom prst="ellipse">
            <a:avLst/>
          </a:prstGeom>
          <a:solidFill>
            <a:srgbClr val="29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85048" y="3410712"/>
            <a:ext cx="50292" cy="50292"/>
          </a:xfrm>
          <a:prstGeom prst="ellipse">
            <a:avLst/>
          </a:prstGeom>
          <a:solidFill>
            <a:srgbClr val="29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43415" y="777240"/>
            <a:ext cx="50292" cy="50292"/>
          </a:xfrm>
          <a:prstGeom prst="ellipse">
            <a:avLst/>
          </a:prstGeom>
          <a:solidFill>
            <a:srgbClr val="29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043415" y="1435607"/>
            <a:ext cx="50292" cy="50292"/>
          </a:xfrm>
          <a:prstGeom prst="ellipse">
            <a:avLst/>
          </a:prstGeom>
          <a:solidFill>
            <a:srgbClr val="29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043415" y="2093976"/>
            <a:ext cx="50292" cy="50292"/>
          </a:xfrm>
          <a:prstGeom prst="ellipse">
            <a:avLst/>
          </a:prstGeom>
          <a:solidFill>
            <a:srgbClr val="29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043415" y="2752344"/>
            <a:ext cx="50292" cy="50292"/>
          </a:xfrm>
          <a:prstGeom prst="ellipse">
            <a:avLst/>
          </a:prstGeom>
          <a:solidFill>
            <a:srgbClr val="29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043415" y="3410712"/>
            <a:ext cx="50292" cy="50292"/>
          </a:xfrm>
          <a:prstGeom prst="ellipse">
            <a:avLst/>
          </a:prstGeom>
          <a:solidFill>
            <a:srgbClr val="29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701784" y="777240"/>
            <a:ext cx="50292" cy="50292"/>
          </a:xfrm>
          <a:prstGeom prst="ellipse">
            <a:avLst/>
          </a:prstGeom>
          <a:solidFill>
            <a:srgbClr val="29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01784" y="1435607"/>
            <a:ext cx="50292" cy="50292"/>
          </a:xfrm>
          <a:prstGeom prst="ellipse">
            <a:avLst/>
          </a:prstGeom>
          <a:solidFill>
            <a:srgbClr val="29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01784" y="2093976"/>
            <a:ext cx="50292" cy="50292"/>
          </a:xfrm>
          <a:prstGeom prst="ellipse">
            <a:avLst/>
          </a:prstGeom>
          <a:solidFill>
            <a:srgbClr val="29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01784" y="2752344"/>
            <a:ext cx="50292" cy="50292"/>
          </a:xfrm>
          <a:prstGeom prst="ellipse">
            <a:avLst/>
          </a:prstGeom>
          <a:solidFill>
            <a:srgbClr val="29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01784" y="3410712"/>
            <a:ext cx="50292" cy="50292"/>
          </a:xfrm>
          <a:prstGeom prst="ellipse">
            <a:avLst/>
          </a:prstGeom>
          <a:solidFill>
            <a:srgbClr val="29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60151" y="777240"/>
            <a:ext cx="50292" cy="50292"/>
          </a:xfrm>
          <a:prstGeom prst="ellipse">
            <a:avLst/>
          </a:prstGeom>
          <a:solidFill>
            <a:srgbClr val="29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60151" y="1435607"/>
            <a:ext cx="50292" cy="50292"/>
          </a:xfrm>
          <a:prstGeom prst="ellipse">
            <a:avLst/>
          </a:prstGeom>
          <a:solidFill>
            <a:srgbClr val="29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360151" y="2093976"/>
            <a:ext cx="50292" cy="50292"/>
          </a:xfrm>
          <a:prstGeom prst="ellipse">
            <a:avLst/>
          </a:prstGeom>
          <a:solidFill>
            <a:srgbClr val="29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360151" y="2752344"/>
            <a:ext cx="50292" cy="50292"/>
          </a:xfrm>
          <a:prstGeom prst="ellipse">
            <a:avLst/>
          </a:prstGeom>
          <a:solidFill>
            <a:srgbClr val="29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60151" y="3410712"/>
            <a:ext cx="50292" cy="50292"/>
          </a:xfrm>
          <a:prstGeom prst="ellipse">
            <a:avLst/>
          </a:prstGeom>
          <a:solidFill>
            <a:srgbClr val="29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018519" y="777240"/>
            <a:ext cx="50292" cy="50292"/>
          </a:xfrm>
          <a:prstGeom prst="ellipse">
            <a:avLst/>
          </a:prstGeom>
          <a:solidFill>
            <a:srgbClr val="29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018519" y="1435607"/>
            <a:ext cx="50292" cy="50292"/>
          </a:xfrm>
          <a:prstGeom prst="ellipse">
            <a:avLst/>
          </a:prstGeom>
          <a:solidFill>
            <a:srgbClr val="29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018519" y="2093976"/>
            <a:ext cx="50292" cy="50292"/>
          </a:xfrm>
          <a:prstGeom prst="ellipse">
            <a:avLst/>
          </a:prstGeom>
          <a:solidFill>
            <a:srgbClr val="29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018519" y="2752344"/>
            <a:ext cx="50292" cy="50292"/>
          </a:xfrm>
          <a:prstGeom prst="ellipse">
            <a:avLst/>
          </a:prstGeom>
          <a:solidFill>
            <a:srgbClr val="29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018519" y="3410712"/>
            <a:ext cx="50292" cy="50292"/>
          </a:xfrm>
          <a:prstGeom prst="ellipse">
            <a:avLst/>
          </a:prstGeom>
          <a:solidFill>
            <a:srgbClr val="29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V="1">
            <a:off x="8339327" y="1435607"/>
            <a:ext cx="1371601" cy="502921"/>
          </a:xfrm>
          <a:prstGeom prst="line">
            <a:avLst/>
          </a:prstGeom>
          <a:ln w="19050">
            <a:solidFill>
              <a:srgbClr val="365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710928" y="1435607"/>
            <a:ext cx="1051560" cy="731521"/>
          </a:xfrm>
          <a:prstGeom prst="line">
            <a:avLst/>
          </a:prstGeom>
          <a:ln w="19050">
            <a:solidFill>
              <a:srgbClr val="365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339327" y="1938528"/>
            <a:ext cx="731521" cy="1234440"/>
          </a:xfrm>
          <a:prstGeom prst="line">
            <a:avLst/>
          </a:prstGeom>
          <a:ln w="19050">
            <a:solidFill>
              <a:srgbClr val="365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070848" y="3172968"/>
            <a:ext cx="1325880" cy="365760"/>
          </a:xfrm>
          <a:prstGeom prst="line">
            <a:avLst/>
          </a:prstGeom>
          <a:ln w="19050">
            <a:solidFill>
              <a:srgbClr val="365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396728" y="3538728"/>
            <a:ext cx="777239" cy="868680"/>
          </a:xfrm>
          <a:prstGeom prst="line">
            <a:avLst/>
          </a:prstGeom>
          <a:ln w="19050">
            <a:solidFill>
              <a:srgbClr val="365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8339327" y="3172968"/>
            <a:ext cx="731521" cy="1188720"/>
          </a:xfrm>
          <a:prstGeom prst="line">
            <a:avLst/>
          </a:prstGeom>
          <a:ln w="19050">
            <a:solidFill>
              <a:srgbClr val="365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710928" y="1435607"/>
            <a:ext cx="685800" cy="2103121"/>
          </a:xfrm>
          <a:prstGeom prst="line">
            <a:avLst/>
          </a:prstGeom>
          <a:ln w="19050">
            <a:solidFill>
              <a:srgbClr val="365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10396728" y="2167128"/>
            <a:ext cx="365760" cy="1371600"/>
          </a:xfrm>
          <a:prstGeom prst="line">
            <a:avLst/>
          </a:prstGeom>
          <a:ln w="19050">
            <a:solidFill>
              <a:srgbClr val="365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8229600" y="1828800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601200" y="1325880"/>
            <a:ext cx="219456" cy="219456"/>
          </a:xfrm>
          <a:prstGeom prst="ellipse">
            <a:avLst/>
          </a:prstGeom>
          <a:solidFill>
            <a:srgbClr val="48B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652760" y="2057400"/>
            <a:ext cx="219456" cy="219456"/>
          </a:xfrm>
          <a:prstGeom prst="ellipse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961120" y="3063240"/>
            <a:ext cx="219456" cy="219456"/>
          </a:xfrm>
          <a:prstGeom prst="ellipse">
            <a:avLst/>
          </a:prstGeom>
          <a:solidFill>
            <a:srgbClr val="8A7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87000" y="3429000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064240" y="4297680"/>
            <a:ext cx="219456" cy="219456"/>
          </a:xfrm>
          <a:prstGeom prst="ellipse">
            <a:avLst/>
          </a:prstGeom>
          <a:solidFill>
            <a:srgbClr val="E87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229600" y="4251960"/>
            <a:ext cx="219456" cy="219456"/>
          </a:xfrm>
          <a:prstGeom prst="ellipse">
            <a:avLst/>
          </a:prstGeom>
          <a:solidFill>
            <a:srgbClr val="48B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58368" y="676656"/>
            <a:ext cx="2084831" cy="256032"/>
          </a:xfrm>
          <a:prstGeom prst="roundRect">
            <a:avLst/>
          </a:prstGeom>
          <a:solidFill>
            <a:srgbClr val="1C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" y="708660"/>
            <a:ext cx="20116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 i="0">
                <a:solidFill>
                  <a:srgbClr val="76E4D8"/>
                </a:solidFill>
                <a:latin typeface="Aptos"/>
              </a:defRPr>
            </a:pPr>
            <a:r>
              <a:t>QUANTUM ERROR CORRECTION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1216152"/>
            <a:ext cx="64008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4000" b="1" i="0">
                <a:solidFill>
                  <a:srgbClr val="FFFFFF"/>
                </a:solidFill>
                <a:latin typeface="Aptos"/>
              </a:defRPr>
            </a:pPr>
            <a:r>
              <a:t>Q-DecodeQEC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2084831"/>
            <a:ext cx="585216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100" b="0" i="0">
                <a:solidFill>
                  <a:srgbClr val="D4E1EF"/>
                </a:solidFill>
                <a:latin typeface="Aptos"/>
              </a:defRPr>
            </a:pPr>
            <a:r>
              <a:t>Comparative syndrome decoding +</a:t>
            </a:r>
            <a:br/>
            <a:r>
              <a:t>passive vs active memory correction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94944" y="3419856"/>
            <a:ext cx="3877056" cy="0"/>
          </a:xfrm>
          <a:prstGeom prst="line">
            <a:avLst/>
          </a:prstGeom>
          <a:ln w="38100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94944" y="3675887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Real IBM Quantum repetition-code data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" y="409651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00" b="0" i="0">
                <a:solidFill>
                  <a:srgbClr val="B9CADC"/>
                </a:solidFill>
                <a:latin typeface="Aptos"/>
              </a:defRPr>
            </a:pPr>
            <a:r>
              <a:t>M0 MWPM  ·  M1 MLP  ·  M2 MOR router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4944" y="5879592"/>
            <a:ext cx="7406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0" i="0">
                <a:solidFill>
                  <a:srgbClr val="B9CADC"/>
                </a:solidFill>
                <a:latin typeface="Aptos"/>
              </a:defRPr>
            </a:pPr>
            <a:r>
              <a:t>Kaustubh Ladda  |  Trinexis × IEEE  |  IBM Qiskit Fall Fest 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944" y="619963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0" i="0">
                <a:solidFill>
                  <a:srgbClr val="819AB5"/>
                </a:solidFill>
                <a:latin typeface="Aptos"/>
              </a:defRPr>
            </a:pPr>
            <a:r>
              <a:t>Evidence snapshot: 26 October 2026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7620">
            <a:solidFill>
              <a:srgbClr val="314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66928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00" b="1" i="0">
                <a:solidFill>
                  <a:srgbClr val="AEC1D6"/>
                </a:solidFill>
                <a:latin typeface="Aptos"/>
              </a:defRPr>
            </a:pPr>
            <a:r>
              <a:t>Q-DECODEQEC  ·  IBM Qiskit Fall Fest 2026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01400" y="6547104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AEC1D6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00A896"/>
                </a:solidFill>
                <a:latin typeface="Aptos"/>
              </a:defRPr>
            </a:pPr>
            <a:r>
              <a:t>01 · PROBLEM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700" b="1" i="0">
                <a:solidFill>
                  <a:srgbClr val="10233F"/>
                </a:solidFill>
                <a:latin typeface="Aptos"/>
              </a:defRPr>
            </a:pPr>
            <a:r>
              <a:t>A small code, a practical decoding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9728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0" i="0">
                <a:solidFill>
                  <a:srgbClr val="66758A"/>
                </a:solidFill>
                <a:latin typeface="Aptos"/>
              </a:defRPr>
            </a:pPr>
            <a:r>
              <a:t>Goal: infer whether the logical observable flipped from syndrome-derived detector bits.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7620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00" b="1" i="0">
                <a:solidFill>
                  <a:srgbClr val="8391A5"/>
                </a:solidFill>
                <a:latin typeface="Aptos"/>
              </a:defRPr>
            </a:pPr>
            <a:r>
              <a:t>Q-DECODEQEC  ·  IBM Qiskit Fall Fest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47104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8391A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00200"/>
            <a:ext cx="379476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810512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600" b="1" i="0">
                <a:solidFill>
                  <a:srgbClr val="10233F"/>
                </a:solidFill>
                <a:latin typeface="Aptos"/>
              </a:defRPr>
            </a:pPr>
            <a:r>
              <a:t>Distance-3 repetition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14884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0" i="0">
                <a:solidFill>
                  <a:srgbClr val="66758A"/>
                </a:solidFill>
                <a:latin typeface="Aptos"/>
              </a:defRPr>
            </a:pPr>
            <a:r>
              <a:t>Three data qubits · two parity checks · three syndrome rounds</a:t>
            </a:r>
          </a:p>
        </p:txBody>
      </p:sp>
      <p:sp>
        <p:nvSpPr>
          <p:cNvPr id="12" name="Oval 11"/>
          <p:cNvSpPr/>
          <p:nvPr/>
        </p:nvSpPr>
        <p:spPr>
          <a:xfrm>
            <a:off x="987552" y="2816352"/>
            <a:ext cx="566928" cy="566928"/>
          </a:xfrm>
          <a:prstGeom prst="ellipse">
            <a:avLst/>
          </a:prstGeom>
          <a:solidFill>
            <a:srgbClr val="E4F0FB"/>
          </a:solidFill>
          <a:ln w="12700">
            <a:solidFill>
              <a:srgbClr val="19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980944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200" b="1" i="0">
                <a:solidFill>
                  <a:srgbClr val="10233F"/>
                </a:solidFill>
                <a:latin typeface="Aptos"/>
              </a:defRPr>
            </a:pPr>
            <a:r>
              <a:t>D0</a:t>
            </a:r>
          </a:p>
        </p:txBody>
      </p:sp>
      <p:sp>
        <p:nvSpPr>
          <p:cNvPr id="14" name="Oval 13"/>
          <p:cNvSpPr/>
          <p:nvPr/>
        </p:nvSpPr>
        <p:spPr>
          <a:xfrm>
            <a:off x="2084831" y="2816352"/>
            <a:ext cx="566928" cy="566928"/>
          </a:xfrm>
          <a:prstGeom prst="ellipse">
            <a:avLst/>
          </a:prstGeom>
          <a:solidFill>
            <a:srgbClr val="E4F0FB"/>
          </a:solidFill>
          <a:ln w="12700">
            <a:solidFill>
              <a:srgbClr val="19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84831" y="2980944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200" b="1" i="0">
                <a:solidFill>
                  <a:srgbClr val="10233F"/>
                </a:solidFill>
                <a:latin typeface="Aptos"/>
              </a:defRPr>
            </a:pPr>
            <a:r>
              <a:t>D1</a:t>
            </a:r>
          </a:p>
        </p:txBody>
      </p:sp>
      <p:sp>
        <p:nvSpPr>
          <p:cNvPr id="16" name="Oval 15"/>
          <p:cNvSpPr/>
          <p:nvPr/>
        </p:nvSpPr>
        <p:spPr>
          <a:xfrm>
            <a:off x="3182112" y="2816352"/>
            <a:ext cx="566928" cy="566928"/>
          </a:xfrm>
          <a:prstGeom prst="ellipse">
            <a:avLst/>
          </a:prstGeom>
          <a:solidFill>
            <a:srgbClr val="E4F0FB"/>
          </a:solidFill>
          <a:ln w="12700">
            <a:solidFill>
              <a:srgbClr val="19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82112" y="2980944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200" b="1" i="0">
                <a:solidFill>
                  <a:srgbClr val="10233F"/>
                </a:solidFill>
                <a:latin typeface="Aptos"/>
              </a:defRPr>
            </a:pPr>
            <a:r>
              <a:t>D2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536192" y="3099816"/>
            <a:ext cx="539496" cy="0"/>
          </a:xfrm>
          <a:prstGeom prst="line">
            <a:avLst/>
          </a:prstGeom>
          <a:ln w="25400">
            <a:solidFill>
              <a:srgbClr val="8BA2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651760" y="3099816"/>
            <a:ext cx="530352" cy="0"/>
          </a:xfrm>
          <a:prstGeom prst="line">
            <a:avLst/>
          </a:prstGeom>
          <a:ln w="25400">
            <a:solidFill>
              <a:srgbClr val="8BA2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97280" y="3703320"/>
            <a:ext cx="1261872" cy="502920"/>
          </a:xfrm>
          <a:prstGeom prst="roundRect">
            <a:avLst/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3758184"/>
            <a:ext cx="118872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 i="0">
                <a:solidFill>
                  <a:srgbClr val="10233F"/>
                </a:solidFill>
                <a:latin typeface="Aptos"/>
              </a:defRPr>
            </a:pPr>
            <a:r>
              <a:t>Check 0</a:t>
            </a:r>
            <a:br/>
            <a:r>
              <a:t>Z0Z1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32304" y="3703320"/>
            <a:ext cx="1261872" cy="502920"/>
          </a:xfrm>
          <a:prstGeom prst="roundRect">
            <a:avLst/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0" y="3758184"/>
            <a:ext cx="118872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 i="0">
                <a:solidFill>
                  <a:srgbClr val="10233F"/>
                </a:solidFill>
                <a:latin typeface="Aptos"/>
              </a:defRPr>
            </a:pPr>
            <a:r>
              <a:t>Check 1</a:t>
            </a:r>
            <a:br/>
            <a:r>
              <a:t>Z1Z2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462272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1" i="0">
                <a:solidFill>
                  <a:srgbClr val="1D2A3A"/>
                </a:solidFill>
                <a:latin typeface="Aptos"/>
              </a:defRPr>
            </a:pPr>
            <a:r>
              <a:t>Repeated measurements expose temporal changes.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509320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0" i="0">
                <a:solidFill>
                  <a:srgbClr val="66758A"/>
                </a:solidFill>
                <a:latin typeface="Aptos"/>
              </a:defRPr>
            </a:pPr>
            <a:r>
              <a:t>Scope: bit-flip (X) errors, not arbitrary quantum noise.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20" y="1600200"/>
            <a:ext cx="6995160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1810512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600" b="1" i="0">
                <a:solidFill>
                  <a:srgbClr val="10233F"/>
                </a:solidFill>
                <a:latin typeface="Aptos"/>
              </a:defRPr>
            </a:pPr>
            <a:r>
              <a:t>One shot → one logical-flip prediction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92040" y="2450592"/>
            <a:ext cx="1691640" cy="868680"/>
          </a:xfrm>
          <a:prstGeom prst="roundRect">
            <a:avLst/>
          </a:prstGeom>
          <a:solidFill>
            <a:srgbClr val="E4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479" y="2624328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400" b="1" i="0">
                <a:solidFill>
                  <a:srgbClr val="10233F"/>
                </a:solidFill>
                <a:latin typeface="Aptos"/>
              </a:defRPr>
            </a:pPr>
            <a:r>
              <a:t>8 detector bits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79" y="2953512"/>
            <a:ext cx="1508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0" i="0">
                <a:solidFill>
                  <a:srgbClr val="66758A"/>
                </a:solidFill>
                <a:latin typeface="Aptos"/>
              </a:defRPr>
            </a:pPr>
            <a:r>
              <a:t>binary input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50608" y="2450592"/>
            <a:ext cx="1691640" cy="868680"/>
          </a:xfrm>
          <a:prstGeom prst="roundRect">
            <a:avLst/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42048" y="2624328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400" b="1" i="0">
                <a:solidFill>
                  <a:srgbClr val="10233F"/>
                </a:solidFill>
                <a:latin typeface="Aptos"/>
              </a:defRPr>
            </a:pPr>
            <a:r>
              <a:t>Decoder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42048" y="2953512"/>
            <a:ext cx="1508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0" i="0">
                <a:solidFill>
                  <a:srgbClr val="66758A"/>
                </a:solidFill>
                <a:latin typeface="Aptos"/>
              </a:defRPr>
            </a:pPr>
            <a:r>
              <a:t>classical CPU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18320" y="2450592"/>
            <a:ext cx="1691640" cy="868680"/>
          </a:xfrm>
          <a:prstGeom prst="roundRect">
            <a:avLst/>
          </a:prstGeom>
          <a:solidFill>
            <a:srgbClr val="FFF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0" y="2624328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400" b="1" i="0">
                <a:solidFill>
                  <a:srgbClr val="10233F"/>
                </a:solidFill>
                <a:latin typeface="Aptos"/>
              </a:defRPr>
            </a:pPr>
            <a:r>
              <a:t>0 /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2953512"/>
            <a:ext cx="1508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0" i="0">
                <a:solidFill>
                  <a:srgbClr val="66758A"/>
                </a:solidFill>
                <a:latin typeface="Aptos"/>
              </a:defRPr>
            </a:pPr>
            <a:r>
              <a:t>predicted flip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629400" y="2889504"/>
            <a:ext cx="466344" cy="0"/>
          </a:xfrm>
          <a:prstGeom prst="line">
            <a:avLst/>
          </a:prstGeom>
          <a:ln w="25400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887968" y="2889504"/>
            <a:ext cx="475488" cy="0"/>
          </a:xfrm>
          <a:prstGeom prst="line">
            <a:avLst/>
          </a:prstGeom>
          <a:ln w="25400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617720" y="4297680"/>
            <a:ext cx="3346704" cy="1801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855464" y="4498848"/>
            <a:ext cx="1325880" cy="256032"/>
          </a:xfrm>
          <a:prstGeom prst="roundRect">
            <a:avLst/>
          </a:prstGeom>
          <a:solidFill>
            <a:srgbClr val="E4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92040" y="4530852"/>
            <a:ext cx="1252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 i="0">
                <a:solidFill>
                  <a:srgbClr val="19395B"/>
                </a:solidFill>
                <a:latin typeface="Aptos"/>
              </a:defRPr>
            </a:pPr>
            <a:r>
              <a:t>CLASSICAL TRACK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55464" y="486460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00" b="1" i="0">
                <a:solidFill>
                  <a:srgbClr val="10233F"/>
                </a:solidFill>
                <a:latin typeface="Aptos"/>
              </a:defRPr>
            </a:pPr>
            <a:r>
              <a:t>ibm_marrakesh source 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55464" y="5230368"/>
            <a:ext cx="276148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0" i="0">
                <a:solidFill>
                  <a:srgbClr val="66758A"/>
                </a:solidFill>
                <a:latin typeface="Aptos"/>
              </a:defRPr>
            </a:pPr>
            <a:r>
              <a:t>4,000 train  ·  1,000 internal test</a:t>
            </a:r>
            <a:br/>
            <a:r>
              <a:t>2,000 unlabelled final-test shots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11312" y="4297680"/>
            <a:ext cx="3401568" cy="1801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449056" y="4498848"/>
            <a:ext cx="1298448" cy="256032"/>
          </a:xfrm>
          <a:prstGeom prst="roundRect">
            <a:avLst/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85632" y="4530852"/>
            <a:ext cx="12252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 i="0">
                <a:solidFill>
                  <a:srgbClr val="00A896"/>
                </a:solidFill>
                <a:latin typeface="Aptos"/>
              </a:defRPr>
            </a:pPr>
            <a:r>
              <a:t>HARDWARE TRACK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49056" y="4864608"/>
            <a:ext cx="27706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00" b="1" i="0">
                <a:solidFill>
                  <a:srgbClr val="10233F"/>
                </a:solidFill>
                <a:latin typeface="Aptos"/>
              </a:defRPr>
            </a:pPr>
            <a:r>
              <a:t>ibm_fez memory experiment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49056" y="5230368"/>
            <a:ext cx="280720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0" i="0">
                <a:solidFill>
                  <a:srgbClr val="66758A"/>
                </a:solidFill>
                <a:latin typeface="Aptos"/>
              </a:defRPr>
            </a:pPr>
            <a:r>
              <a:t>16 circuit variants  ·  4,000 shots</a:t>
            </a:r>
            <a:br/>
            <a:r>
              <a:t>Passive offline decode vs active feedback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00A896"/>
                </a:solidFill>
                <a:latin typeface="Aptos"/>
              </a:defRPr>
            </a:pPr>
            <a:r>
              <a:t>02 ·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700" b="1" i="0">
                <a:solidFill>
                  <a:srgbClr val="10233F"/>
                </a:solidFill>
                <a:latin typeface="Aptos"/>
              </a:defRPr>
            </a:pPr>
            <a:r>
              <a:t>Three decoders, two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9728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0" i="0">
                <a:solidFill>
                  <a:srgbClr val="66758A"/>
                </a:solidFill>
                <a:latin typeface="Aptos"/>
              </a:defRPr>
            </a:pPr>
            <a:r>
              <a:t>All methods are evaluated on the same 1,000 labelled internal-test shots.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7620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00" b="1" i="0">
                <a:solidFill>
                  <a:srgbClr val="8391A5"/>
                </a:solidFill>
                <a:latin typeface="Aptos"/>
              </a:defRPr>
            </a:pPr>
            <a:r>
              <a:t>Q-DECODEQEC  ·  IBM Qiskit Fall Fest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47104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8391A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572768"/>
            <a:ext cx="11045952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78308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66758A"/>
                </a:solidFill>
                <a:latin typeface="Aptos"/>
              </a:defRPr>
            </a:pPr>
            <a:r>
              <a:t>CONTROLS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719072"/>
            <a:ext cx="2103120" cy="384048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01952" y="1810512"/>
            <a:ext cx="195681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 i="0">
                <a:solidFill>
                  <a:srgbClr val="10233F"/>
                </a:solidFill>
                <a:latin typeface="Aptos"/>
              </a:defRPr>
            </a:pPr>
            <a:r>
              <a:t>No-flip baseline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719072"/>
            <a:ext cx="2194560" cy="384048"/>
          </a:xfrm>
          <a:prstGeom prst="roundRect">
            <a:avLst/>
          </a:prstGeom>
          <a:solidFill>
            <a:srgbClr val="E4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24528" y="1810512"/>
            <a:ext cx="2066543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 i="0">
                <a:solidFill>
                  <a:srgbClr val="10233F"/>
                </a:solidFill>
                <a:latin typeface="Aptos"/>
              </a:defRPr>
            </a:pPr>
            <a:r>
              <a:t>Exact pattern lookup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801368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1" i="0">
                <a:solidFill>
                  <a:srgbClr val="00A896"/>
                </a:solidFill>
                <a:latin typeface="Aptos"/>
              </a:defRPr>
            </a:pPr>
            <a:r>
              <a:t>Required decoder comparison 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542032"/>
            <a:ext cx="3456432" cy="3182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3816" y="2761488"/>
            <a:ext cx="420624" cy="42062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2880360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M0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752344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 b="1" i="0">
                <a:solidFill>
                  <a:srgbClr val="10233F"/>
                </a:solidFill>
                <a:latin typeface="Aptos"/>
              </a:defRPr>
            </a:pPr>
            <a:r>
              <a:t>MWPM / PyMatching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" y="3383280"/>
            <a:ext cx="2880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200" b="1" i="0">
                <a:solidFill>
                  <a:srgbClr val="1D2A3A"/>
                </a:solidFill>
                <a:latin typeface="Aptos"/>
              </a:defRPr>
            </a:pPr>
            <a:r>
              <a:t>Graph-based minimum-weight matching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13816" y="3931920"/>
            <a:ext cx="2935223" cy="0"/>
          </a:xfrm>
          <a:prstGeom prst="line">
            <a:avLst/>
          </a:prstGeom>
          <a:ln w="12700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13816" y="4133087"/>
            <a:ext cx="2898648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0" i="0">
                <a:solidFill>
                  <a:srgbClr val="66758A"/>
                </a:solidFill>
                <a:latin typeface="Aptos"/>
              </a:defRPr>
            </a:pPr>
            <a:r>
              <a:t>8 detector nodes · 18 edges</a:t>
            </a:r>
            <a:br/>
            <a:r>
              <a:t>8/8 hand-built syndrome tests passed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" y="4983480"/>
            <a:ext cx="3017520" cy="438912"/>
          </a:xfrm>
          <a:prstGeom prst="roundRect">
            <a:avLst/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5084064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 i="0">
                <a:solidFill>
                  <a:srgbClr val="10233F"/>
                </a:solidFill>
                <a:latin typeface="Aptos"/>
              </a:defRPr>
            </a:pPr>
            <a:r>
              <a:t>Fastest required decoder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0832" y="2542032"/>
            <a:ext cx="3456432" cy="3182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17720" y="2761488"/>
            <a:ext cx="420624" cy="420624"/>
          </a:xfrm>
          <a:prstGeom prst="ellipse">
            <a:avLst/>
          </a:prstGeom>
          <a:solidFill>
            <a:srgbClr val="48B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2880360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M1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75504" y="2752344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 b="1" i="0">
                <a:solidFill>
                  <a:srgbClr val="10233F"/>
                </a:solidFill>
                <a:latin typeface="Aptos"/>
              </a:defRPr>
            </a:pPr>
            <a:r>
              <a:t>Neural MLP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3383280"/>
            <a:ext cx="2880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200" b="1" i="0">
                <a:solidFill>
                  <a:srgbClr val="1D2A3A"/>
                </a:solidFill>
                <a:latin typeface="Aptos"/>
              </a:defRPr>
            </a:pPr>
            <a:r>
              <a:t>Classical multilayer perceptron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617720" y="3931920"/>
            <a:ext cx="2935224" cy="0"/>
          </a:xfrm>
          <a:prstGeom prst="line">
            <a:avLst/>
          </a:prstGeom>
          <a:ln w="12700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617720" y="4133087"/>
            <a:ext cx="2898648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0" i="0">
                <a:solidFill>
                  <a:srgbClr val="66758A"/>
                </a:solidFill>
                <a:latin typeface="Aptos"/>
              </a:defRPr>
            </a:pPr>
            <a:r>
              <a:t>(64, 64) hidden units · 4,801 parameters</a:t>
            </a:r>
            <a:br/>
            <a:r>
              <a:t>Decision threshold tuned on validation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90288" y="4983480"/>
            <a:ext cx="3017520" cy="438912"/>
          </a:xfrm>
          <a:prstGeom prst="roundRect">
            <a:avLst/>
          </a:prstGeom>
          <a:solidFill>
            <a:srgbClr val="E4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81728" y="5084064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 i="0">
                <a:solidFill>
                  <a:srgbClr val="10233F"/>
                </a:solidFill>
                <a:latin typeface="Aptos"/>
              </a:defRPr>
            </a:pPr>
            <a:r>
              <a:t>Lowest internal-test point estimate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74736" y="2542032"/>
            <a:ext cx="3456432" cy="3182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21624" y="2761488"/>
            <a:ext cx="420624" cy="420624"/>
          </a:xfrm>
          <a:prstGeom prst="ellipse">
            <a:avLst/>
          </a:prstGeom>
          <a:solidFill>
            <a:srgbClr val="8A7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21624" y="2880360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M2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79408" y="2752344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 b="1" i="0">
                <a:solidFill>
                  <a:srgbClr val="10233F"/>
                </a:solidFill>
                <a:latin typeface="Aptos"/>
              </a:defRPr>
            </a:pPr>
            <a:r>
              <a:t>MOR difficulty-aware router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21624" y="3383280"/>
            <a:ext cx="2880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200" b="1" i="0">
                <a:solidFill>
                  <a:srgbClr val="1D2A3A"/>
                </a:solidFill>
                <a:latin typeface="Aptos"/>
              </a:defRPr>
            </a:pPr>
            <a:r>
              <a:t>Select identity, matching or neural path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421624" y="3931920"/>
            <a:ext cx="2935224" cy="0"/>
          </a:xfrm>
          <a:prstGeom prst="line">
            <a:avLst/>
          </a:prstGeom>
          <a:ln w="12700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421624" y="4133087"/>
            <a:ext cx="2898648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0" i="0">
                <a:solidFill>
                  <a:srgbClr val="66758A"/>
                </a:solidFill>
                <a:latin typeface="Aptos"/>
              </a:defRPr>
            </a:pPr>
            <a:r>
              <a:t>Routes by detector-weight class</a:t>
            </a:r>
            <a:br/>
            <a:r>
              <a:t>Platt scaling calibrates probabilities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94192" y="4983480"/>
            <a:ext cx="3017520" cy="438912"/>
          </a:xfrm>
          <a:prstGeom prst="roundRect">
            <a:avLst/>
          </a:prstGeom>
          <a:solidFill>
            <a:srgbClr val="F0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85632" y="5084064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 i="0">
                <a:solidFill>
                  <a:srgbClr val="10233F"/>
                </a:solidFill>
                <a:latin typeface="Aptos"/>
              </a:defRPr>
            </a:pPr>
            <a:r>
              <a:t>Saves some neural calls; higher latency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59893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0" i="1">
                <a:solidFill>
                  <a:srgbClr val="66758A"/>
                </a:solidFill>
                <a:latin typeface="Aptos"/>
              </a:defRPr>
            </a:pPr>
            <a:r>
              <a:t>The final 2,000-shot holdout has no labels; it is for frozen predictions, not scoring.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00A896"/>
                </a:solidFill>
                <a:latin typeface="Aptos"/>
              </a:defRPr>
            </a:pPr>
            <a:r>
              <a:t>03 · MAIN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700" b="1" i="0">
                <a:solidFill>
                  <a:srgbClr val="10233F"/>
                </a:solidFill>
                <a:latin typeface="Aptos"/>
              </a:defRPr>
            </a:pPr>
            <a:r>
              <a:t>Decoding cuts the measured error rate sharply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9728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0" i="0">
                <a:solidFill>
                  <a:srgbClr val="66758A"/>
                </a:solidFill>
                <a:latin typeface="Aptos"/>
              </a:defRPr>
            </a:pPr>
            <a:r>
              <a:t>Internal test: 1,000 labelled shots · logical error rate (LER) = fraction of wrong predictions.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7620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00" b="1" i="0">
                <a:solidFill>
                  <a:srgbClr val="8391A5"/>
                </a:solidFill>
                <a:latin typeface="Aptos"/>
              </a:defRPr>
            </a:pPr>
            <a:r>
              <a:t>Q-DECODEQEC  ·  IBM Qiskit Fall Fest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47104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8391A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00200"/>
            <a:ext cx="7452360" cy="4507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nternal_test_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828800"/>
            <a:ext cx="6995160" cy="35844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5614416"/>
            <a:ext cx="6629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0" i="1">
                <a:solidFill>
                  <a:srgbClr val="66758A"/>
                </a:solidFill>
                <a:latin typeface="Aptos"/>
              </a:defRPr>
            </a:pPr>
            <a:r>
              <a:t>Error bars show 95% bootstrap intervals.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47888" y="1600200"/>
            <a:ext cx="3364992" cy="1993392"/>
          </a:xfrm>
          <a:prstGeom prst="roundRect">
            <a:avLst/>
          </a:prstGeom>
          <a:solidFill>
            <a:srgbClr val="10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0496" y="1920240"/>
            <a:ext cx="27889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700" b="1" i="0">
                <a:solidFill>
                  <a:srgbClr val="FFFFFF"/>
                </a:solidFill>
                <a:latin typeface="Aptos"/>
              </a:defRPr>
            </a:pPr>
            <a:r>
              <a:t>24.5% → 1.8%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0496" y="2606040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200" b="1" i="0">
                <a:solidFill>
                  <a:srgbClr val="BBD0E2"/>
                </a:solidFill>
                <a:latin typeface="Aptos"/>
              </a:defRPr>
            </a:pPr>
            <a:r>
              <a:t>No-flip baseline → M1 MLP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0496" y="2971800"/>
            <a:ext cx="2788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Aptos"/>
              </a:defRPr>
            </a:pPr>
            <a:r>
              <a:t>18 errors out of 1,000 shots for M1.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47888" y="3803904"/>
            <a:ext cx="3364992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2208" y="4087368"/>
            <a:ext cx="2761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400" b="1" i="0">
                <a:solidFill>
                  <a:srgbClr val="10233F"/>
                </a:solidFill>
                <a:latin typeface="Aptos"/>
              </a:defRPr>
            </a:pPr>
            <a:r>
              <a:t>What the benchmark says</a:t>
            </a:r>
          </a:p>
        </p:txBody>
      </p:sp>
      <p:sp>
        <p:nvSpPr>
          <p:cNvPr id="18" name="Oval 17"/>
          <p:cNvSpPr/>
          <p:nvPr/>
        </p:nvSpPr>
        <p:spPr>
          <a:xfrm>
            <a:off x="8522208" y="4590288"/>
            <a:ext cx="91440" cy="914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05088" y="4517136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0" i="0">
                <a:solidFill>
                  <a:srgbClr val="1D2A3A"/>
                </a:solidFill>
                <a:latin typeface="Aptos"/>
              </a:defRPr>
            </a:pPr>
            <a:r>
              <a:t>All three required decoders achieve LER below 3%.</a:t>
            </a:r>
          </a:p>
        </p:txBody>
      </p:sp>
      <p:sp>
        <p:nvSpPr>
          <p:cNvPr id="20" name="Oval 19"/>
          <p:cNvSpPr/>
          <p:nvPr/>
        </p:nvSpPr>
        <p:spPr>
          <a:xfrm>
            <a:off x="8522208" y="5047488"/>
            <a:ext cx="91440" cy="91440"/>
          </a:xfrm>
          <a:prstGeom prst="ellipse">
            <a:avLst/>
          </a:prstGeom>
          <a:solidFill>
            <a:srgbClr val="48B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05088" y="4974336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0" i="0">
                <a:solidFill>
                  <a:srgbClr val="1D2A3A"/>
                </a:solidFill>
                <a:latin typeface="Aptos"/>
              </a:defRPr>
            </a:pPr>
            <a:r>
              <a:t>M1 has the lowest point estimate: 1.8%.</a:t>
            </a:r>
          </a:p>
        </p:txBody>
      </p:sp>
      <p:sp>
        <p:nvSpPr>
          <p:cNvPr id="22" name="Oval 21"/>
          <p:cNvSpPr/>
          <p:nvPr/>
        </p:nvSpPr>
        <p:spPr>
          <a:xfrm>
            <a:off x="8522208" y="5504688"/>
            <a:ext cx="91440" cy="91440"/>
          </a:xfrm>
          <a:prstGeom prst="ellipse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05088" y="5431536"/>
            <a:ext cx="2560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0" i="0">
                <a:solidFill>
                  <a:srgbClr val="1D2A3A"/>
                </a:solidFill>
                <a:latin typeface="Aptos"/>
              </a:defRPr>
            </a:pPr>
            <a:r>
              <a:t>Its lead over lookup is not statistically resolved.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00A896"/>
                </a:solidFill>
                <a:latin typeface="Aptos"/>
              </a:defRPr>
            </a:pPr>
            <a:r>
              <a:t>04 · INTERPRETING THE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700" b="1" i="0">
                <a:solidFill>
                  <a:srgbClr val="10233F"/>
                </a:solidFill>
                <a:latin typeface="Aptos"/>
              </a:defRPr>
            </a:pPr>
            <a:r>
              <a:t>The best point estimate is not automatically the winner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9728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0" i="0">
                <a:solidFill>
                  <a:srgbClr val="66758A"/>
                </a:solidFill>
                <a:latin typeface="Aptos"/>
              </a:defRPr>
            </a:pPr>
            <a:r>
              <a:t>The predeclared rule compares paired bootstrap intervals first, then uses latency to break ties.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7620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00" b="1" i="0">
                <a:solidFill>
                  <a:srgbClr val="8391A5"/>
                </a:solidFill>
                <a:latin typeface="Aptos"/>
              </a:defRPr>
            </a:pPr>
            <a:r>
              <a:t>Q-DECODEQEC  ·  IBM Qiskit Fall Fest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47104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8391A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09344"/>
            <a:ext cx="6080760" cy="45354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84708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 b="1" i="0">
                <a:solidFill>
                  <a:srgbClr val="10233F"/>
                </a:solidFill>
                <a:latin typeface="Aptos"/>
              </a:defRPr>
            </a:pPr>
            <a:r>
              <a:t>Median classical latency (batch size 1)</a:t>
            </a:r>
          </a:p>
        </p:txBody>
      </p:sp>
      <p:pic>
        <p:nvPicPr>
          <p:cNvPr id="11" name="Picture 10" descr="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212848"/>
            <a:ext cx="5623560" cy="34015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9536" y="576072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0" i="1">
                <a:solidFill>
                  <a:srgbClr val="66758A"/>
                </a:solidFill>
                <a:latin typeface="Aptos"/>
              </a:defRPr>
            </a:pPr>
            <a:r>
              <a:t>Measurements are Python CPU-side timings, not QPU feedback-loop latency.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67728" y="1609344"/>
            <a:ext cx="4645152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0336" y="1874519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600" b="1" i="0">
                <a:solidFill>
                  <a:srgbClr val="10233F"/>
                </a:solidFill>
                <a:latin typeface="Aptos"/>
              </a:defRPr>
            </a:pPr>
            <a:r>
              <a:t>Why the report selects M0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0336" y="2322576"/>
            <a:ext cx="400507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200" b="1" i="0">
                <a:solidFill>
                  <a:srgbClr val="1D2A3A"/>
                </a:solidFill>
                <a:latin typeface="Aptos"/>
              </a:defRPr>
            </a:pPr>
            <a:r>
              <a:t>M1 vs lookup: ΔLER = −0.002</a:t>
            </a:r>
            <a:br/>
            <a:r>
              <a:t>95% paired interval: [−0.005, 0.000]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0336" y="3054096"/>
            <a:ext cx="2148840" cy="256032"/>
          </a:xfrm>
          <a:prstGeom prst="roundRect">
            <a:avLst/>
          </a:prstGeom>
          <a:solidFill>
            <a:srgbClr val="FFF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3086100"/>
            <a:ext cx="2075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 i="0">
                <a:solidFill>
                  <a:srgbClr val="8B631A"/>
                </a:solidFill>
                <a:latin typeface="Aptos"/>
              </a:defRPr>
            </a:pPr>
            <a:r>
              <a:t>INCONCLUSIVE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0336" y="3346704"/>
            <a:ext cx="39776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0" i="0">
                <a:solidFill>
                  <a:srgbClr val="66758A"/>
                </a:solidFill>
                <a:latin typeface="Aptos"/>
              </a:defRPr>
            </a:pPr>
            <a:r>
              <a:t>Among statistically tied required decoders, M0 is fastest at 30.3 µs p50.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67728" y="3877056"/>
            <a:ext cx="4645152" cy="2267712"/>
          </a:xfrm>
          <a:prstGeom prst="roundRect">
            <a:avLst/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0336" y="4160520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 b="1" i="0">
                <a:solidFill>
                  <a:srgbClr val="10233F"/>
                </a:solidFill>
                <a:latin typeface="Aptos"/>
              </a:defRPr>
            </a:pPr>
            <a:r>
              <a:t>Calibration improved for M2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0336" y="4562856"/>
            <a:ext cx="3977639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0" i="0">
                <a:solidFill>
                  <a:srgbClr val="66758A"/>
                </a:solidFill>
                <a:latin typeface="Aptos"/>
              </a:defRPr>
            </a:pPr>
            <a:r>
              <a:t>Expected calibration error (ECE)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0336" y="4846320"/>
            <a:ext cx="39776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400" b="1" i="0">
                <a:solidFill>
                  <a:srgbClr val="00A896"/>
                </a:solidFill>
                <a:latin typeface="Aptos"/>
              </a:defRPr>
            </a:pPr>
            <a:r>
              <a:t>0.032  →  0.016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0336" y="5376672"/>
            <a:ext cx="39776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0" i="0">
                <a:solidFill>
                  <a:srgbClr val="1D2A3A"/>
                </a:solidFill>
                <a:latin typeface="Aptos"/>
              </a:defRPr>
            </a:pPr>
            <a:r>
              <a:t>Platt scaling improved probability reliability, but did not make M2 faster: 304.3 µs p50.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00A896"/>
                </a:solidFill>
                <a:latin typeface="Aptos"/>
              </a:defRPr>
            </a:pPr>
            <a:r>
              <a:t>05 · REAL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700" b="1" i="0">
                <a:solidFill>
                  <a:srgbClr val="10233F"/>
                </a:solidFill>
                <a:latin typeface="Aptos"/>
              </a:defRPr>
            </a:pPr>
            <a:r>
              <a:t>Passive logging vs active correction on ibm_fez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9728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0" i="0">
                <a:solidFill>
                  <a:srgbClr val="66758A"/>
                </a:solidFill>
                <a:latin typeface="Aptos"/>
              </a:defRPr>
            </a:pPr>
            <a:r>
              <a:t>A separate device experiment tests whether applying a conditional X inside the circuit helps the memory outcome.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7620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00" b="1" i="0">
                <a:solidFill>
                  <a:srgbClr val="8391A5"/>
                </a:solidFill>
                <a:latin typeface="Aptos"/>
              </a:defRPr>
            </a:pPr>
            <a:r>
              <a:t>Q-DECODEQEC  ·  IBM Qiskit Fall Fest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47104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8391A5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09344"/>
            <a:ext cx="26060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55648"/>
            <a:ext cx="22768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00" b="1" i="0">
                <a:solidFill>
                  <a:srgbClr val="66758A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2276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400" b="1" i="0">
                <a:solidFill>
                  <a:srgbClr val="10233F"/>
                </a:solidFill>
                <a:latin typeface="Aptos"/>
              </a:defRPr>
            </a:pPr>
            <a:r>
              <a:t>ibm_fez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609344"/>
            <a:ext cx="26060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755648"/>
            <a:ext cx="22768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00" b="1" i="0">
                <a:solidFill>
                  <a:srgbClr val="66758A"/>
                </a:solidFill>
                <a:latin typeface="Aptos"/>
              </a:defRPr>
            </a:pPr>
            <a:r>
              <a:t>PHYSICAL 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011680"/>
            <a:ext cx="2276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400" b="1" i="0">
                <a:solidFill>
                  <a:srgbClr val="10233F"/>
                </a:solidFill>
                <a:latin typeface="Aptos"/>
              </a:defRPr>
            </a:pPr>
            <a:r>
              <a:t>22–23–24–25–26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609344"/>
            <a:ext cx="26060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1755648"/>
            <a:ext cx="22768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00" b="1" i="0">
                <a:solidFill>
                  <a:srgbClr val="66758A"/>
                </a:solidFill>
                <a:latin typeface="Aptos"/>
              </a:defRPr>
            </a:pPr>
            <a:r>
              <a:t>CIRCUIT 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011680"/>
            <a:ext cx="2276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400" b="1" i="0">
                <a:solidFill>
                  <a:srgbClr val="10233F"/>
                </a:solidFill>
                <a:latin typeface="Aptos"/>
              </a:defRPr>
            </a:pPr>
            <a:r>
              <a:t>8 configs × 2 versions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33688" y="1609344"/>
            <a:ext cx="267919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1755648"/>
            <a:ext cx="23500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00" b="1" i="0">
                <a:solidFill>
                  <a:srgbClr val="66758A"/>
                </a:solidFill>
                <a:latin typeface="Aptos"/>
              </a:defRPr>
            </a:pPr>
            <a:r>
              <a:t>QPU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011680"/>
            <a:ext cx="23500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400" b="1" i="0">
                <a:solidFill>
                  <a:srgbClr val="10233F"/>
                </a:solidFill>
                <a:latin typeface="Aptos"/>
              </a:defRPr>
            </a:pPr>
            <a:r>
              <a:t>5.0 s total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2770632"/>
            <a:ext cx="5349240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9536" y="3008376"/>
            <a:ext cx="960120" cy="256032"/>
          </a:xfrm>
          <a:prstGeom prst="roundRect">
            <a:avLst/>
          </a:prstGeom>
          <a:solidFill>
            <a:srgbClr val="E4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040380"/>
            <a:ext cx="8869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 i="0">
                <a:solidFill>
                  <a:srgbClr val="19395B"/>
                </a:solidFill>
                <a:latin typeface="Aptos"/>
              </a:defRPr>
            </a:pPr>
            <a:r>
              <a:t>PASSIVE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3447288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 b="1" i="0">
                <a:solidFill>
                  <a:srgbClr val="10233F"/>
                </a:solidFill>
                <a:latin typeface="Aptos"/>
              </a:defRPr>
            </a:pPr>
            <a:r>
              <a:t>Measure and store syndrome history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" y="4050791"/>
            <a:ext cx="1508760" cy="594360"/>
          </a:xfrm>
          <a:prstGeom prst="roundRect">
            <a:avLst/>
          </a:prstGeom>
          <a:solidFill>
            <a:srgbClr val="E4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151376"/>
            <a:ext cx="136245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 i="0">
                <a:solidFill>
                  <a:srgbClr val="10233F"/>
                </a:solidFill>
                <a:latin typeface="Aptos"/>
              </a:defRPr>
            </a:pPr>
            <a:r>
              <a:t>Memory</a:t>
            </a:r>
            <a:br/>
            <a:r>
              <a:t>circuit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423160" y="4343400"/>
            <a:ext cx="384048" cy="0"/>
          </a:xfrm>
          <a:prstGeom prst="line">
            <a:avLst/>
          </a:prstGeom>
          <a:ln w="25400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862072" y="4050791"/>
            <a:ext cx="1225296" cy="594360"/>
          </a:xfrm>
          <a:prstGeom prst="roundRect">
            <a:avLst/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16936" y="4151376"/>
            <a:ext cx="1115568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 i="0">
                <a:solidFill>
                  <a:srgbClr val="10233F"/>
                </a:solidFill>
                <a:latin typeface="Aptos"/>
              </a:defRPr>
            </a:pPr>
            <a:r>
              <a:t>Syndrome</a:t>
            </a:r>
            <a:br/>
            <a:r>
              <a:t>registers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142232" y="4343400"/>
            <a:ext cx="384048" cy="0"/>
          </a:xfrm>
          <a:prstGeom prst="line">
            <a:avLst/>
          </a:prstGeom>
          <a:ln w="25400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581144" y="4050791"/>
            <a:ext cx="987552" cy="59436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20" y="4151376"/>
            <a:ext cx="91440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 i="0">
                <a:solidFill>
                  <a:srgbClr val="10233F"/>
                </a:solidFill>
                <a:latin typeface="Aptos"/>
              </a:defRPr>
            </a:pPr>
            <a:r>
              <a:t>Offline</a:t>
            </a:r>
            <a:br/>
            <a:r>
              <a:t>decoder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4800600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0" i="0">
                <a:solidFill>
                  <a:srgbClr val="66758A"/>
                </a:solidFill>
                <a:latin typeface="Aptos"/>
              </a:defRPr>
            </a:pPr>
            <a:r>
              <a:t>M0 / M1 / M2 applied after the hardware run.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2770632"/>
            <a:ext cx="5376672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28816" y="3008376"/>
            <a:ext cx="868680" cy="256032"/>
          </a:xfrm>
          <a:prstGeom prst="roundRect">
            <a:avLst/>
          </a:prstGeom>
          <a:solidFill>
            <a:srgbClr val="FC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65392" y="3040380"/>
            <a:ext cx="7955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 i="0">
                <a:solidFill>
                  <a:srgbClr val="A8443C"/>
                </a:solidFill>
                <a:latin typeface="Aptos"/>
              </a:defRPr>
            </a:pPr>
            <a:r>
              <a:t>ACTIVE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8816" y="34472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 b="1" i="0">
                <a:solidFill>
                  <a:srgbClr val="10233F"/>
                </a:solidFill>
                <a:latin typeface="Aptos"/>
              </a:defRPr>
            </a:pPr>
            <a:r>
              <a:t>Use the last syndrome to trigger conditional X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28816" y="4050791"/>
            <a:ext cx="1508760" cy="594360"/>
          </a:xfrm>
          <a:prstGeom prst="roundRect">
            <a:avLst/>
          </a:prstGeom>
          <a:solidFill>
            <a:srgbClr val="E4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01968" y="4151376"/>
            <a:ext cx="136245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 i="0">
                <a:solidFill>
                  <a:srgbClr val="10233F"/>
                </a:solidFill>
                <a:latin typeface="Aptos"/>
              </a:defRPr>
            </a:pPr>
            <a:r>
              <a:t>Memory</a:t>
            </a:r>
            <a:br/>
            <a:r>
              <a:t>circuit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092440" y="4343400"/>
            <a:ext cx="347472" cy="0"/>
          </a:xfrm>
          <a:prstGeom prst="line">
            <a:avLst/>
          </a:prstGeom>
          <a:ln w="25400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494776" y="4050791"/>
            <a:ext cx="1325880" cy="594360"/>
          </a:xfrm>
          <a:prstGeom prst="roundRect">
            <a:avLst/>
          </a:prstGeom>
          <a:solidFill>
            <a:srgbClr val="FFF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49640" y="4151376"/>
            <a:ext cx="1216152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 i="0">
                <a:solidFill>
                  <a:srgbClr val="10233F"/>
                </a:solidFill>
                <a:latin typeface="Aptos"/>
              </a:defRPr>
            </a:pPr>
            <a:r>
              <a:t>Last</a:t>
            </a:r>
            <a:br/>
            <a:r>
              <a:t>syndrome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875520" y="4343400"/>
            <a:ext cx="274320" cy="0"/>
          </a:xfrm>
          <a:prstGeom prst="line">
            <a:avLst/>
          </a:prstGeom>
          <a:ln w="25400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0204704" y="4050791"/>
            <a:ext cx="1069848" cy="594360"/>
          </a:xfrm>
          <a:prstGeom prst="roundRect">
            <a:avLst/>
          </a:prstGeom>
          <a:solidFill>
            <a:srgbClr val="FC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50424" y="4151376"/>
            <a:ext cx="978408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 i="0">
                <a:solidFill>
                  <a:srgbClr val="10233F"/>
                </a:solidFill>
                <a:latin typeface="Aptos"/>
              </a:defRPr>
            </a:pPr>
            <a:r>
              <a:t>Conditional</a:t>
            </a:r>
            <a:br/>
            <a:r>
              <a:t>X gate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8816" y="4800600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0" i="0">
                <a:solidFill>
                  <a:srgbClr val="66758A"/>
                </a:solidFill>
                <a:latin typeface="Aptos"/>
              </a:defRPr>
            </a:pPr>
            <a:r>
              <a:t>16 circuits × 250 shots = 4,000 shots total (2,000 per condition).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" y="5504688"/>
            <a:ext cx="11045952" cy="530352"/>
          </a:xfrm>
          <a:prstGeom prst="roundRect">
            <a:avLst/>
          </a:prstGeom>
          <a:solidFill>
            <a:srgbClr val="10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5660136"/>
            <a:ext cx="10533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Important distinction: labelled training data came from ibm_marrakesh; this passive/active circuit experiment ran separately on ibm_fez.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00A896"/>
                </a:solidFill>
                <a:latin typeface="Aptos"/>
              </a:defRPr>
            </a:pPr>
            <a:r>
              <a:t>06 · HARDWARE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700" b="1" i="0">
                <a:solidFill>
                  <a:srgbClr val="10233F"/>
                </a:solidFill>
                <a:latin typeface="Aptos"/>
              </a:defRPr>
            </a:pPr>
            <a:r>
              <a:t>Active feedback helps, but offline decoding helps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9728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0" i="0">
                <a:solidFill>
                  <a:srgbClr val="66758A"/>
                </a:solidFill>
                <a:latin typeface="Aptos"/>
              </a:defRPr>
            </a:pPr>
            <a:r>
              <a:t>Pooled results: 2,000 shots per condition · error bars are Wilson 95% intervals.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7620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00" b="1" i="0">
                <a:solidFill>
                  <a:srgbClr val="8391A5"/>
                </a:solidFill>
                <a:latin typeface="Aptos"/>
              </a:defRPr>
            </a:pPr>
            <a:r>
              <a:t>Q-DECODEQEC  ·  IBM Qiskit Fall Fest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47104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8391A5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00200"/>
            <a:ext cx="7607808" cy="4544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ardware_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47088"/>
            <a:ext cx="7205472" cy="37673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5724144"/>
            <a:ext cx="70591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50" b="0" i="1">
                <a:solidFill>
                  <a:srgbClr val="66758A"/>
                </a:solidFill>
                <a:latin typeface="Aptos"/>
              </a:defRPr>
            </a:pPr>
            <a:r>
              <a:t>*Active-before-feedback is reconstructed from the active circuit registers; it is not a second submitted passive circuit.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03336" y="1600200"/>
            <a:ext cx="3209544" cy="1975104"/>
          </a:xfrm>
          <a:prstGeom prst="roundRect">
            <a:avLst/>
          </a:prstGeom>
          <a:solidFill>
            <a:srgbClr val="10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59368" y="1938528"/>
            <a:ext cx="26974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500" b="1" i="0">
                <a:solidFill>
                  <a:srgbClr val="FFFFFF"/>
                </a:solidFill>
                <a:latin typeface="Aptos"/>
              </a:defRPr>
            </a:pPr>
            <a:r>
              <a:t>25.3% → 4.8%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9368" y="2606040"/>
            <a:ext cx="2697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200" b="1" i="0">
                <a:solidFill>
                  <a:srgbClr val="BBD0E2"/>
                </a:solidFill>
                <a:latin typeface="Aptos"/>
              </a:defRPr>
            </a:pPr>
            <a:r>
              <a:t>Active on-device correction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59368" y="2944368"/>
            <a:ext cx="2697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Aptos"/>
              </a:defRPr>
            </a:pPr>
            <a:r>
              <a:t>Large reduction versus leaving the memory uncorrected.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03336" y="3794760"/>
            <a:ext cx="3209544" cy="2350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68512" y="4078224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 b="1" i="0">
                <a:solidFill>
                  <a:srgbClr val="10233F"/>
                </a:solidFill>
                <a:latin typeface="Aptos"/>
              </a:defRPr>
            </a:pPr>
            <a:r>
              <a:t>What matters</a:t>
            </a:r>
          </a:p>
        </p:txBody>
      </p:sp>
      <p:sp>
        <p:nvSpPr>
          <p:cNvPr id="18" name="Oval 17"/>
          <p:cNvSpPr/>
          <p:nvPr/>
        </p:nvSpPr>
        <p:spPr>
          <a:xfrm>
            <a:off x="8668512" y="4572000"/>
            <a:ext cx="91440" cy="914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51392" y="4498848"/>
            <a:ext cx="24597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0" i="0">
                <a:solidFill>
                  <a:srgbClr val="1D2A3A"/>
                </a:solidFill>
                <a:latin typeface="Aptos"/>
              </a:defRPr>
            </a:pPr>
            <a:r>
              <a:t>Passive + M0: 1.8% LER (36/2,000 errors).</a:t>
            </a:r>
          </a:p>
        </p:txBody>
      </p:sp>
      <p:sp>
        <p:nvSpPr>
          <p:cNvPr id="20" name="Oval 19"/>
          <p:cNvSpPr/>
          <p:nvPr/>
        </p:nvSpPr>
        <p:spPr>
          <a:xfrm>
            <a:off x="8668512" y="5056632"/>
            <a:ext cx="91440" cy="91440"/>
          </a:xfrm>
          <a:prstGeom prst="ellipse">
            <a:avLst/>
          </a:prstGeom>
          <a:solidFill>
            <a:srgbClr val="E87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51392" y="4983480"/>
            <a:ext cx="24597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0" i="0">
                <a:solidFill>
                  <a:srgbClr val="1D2A3A"/>
                </a:solidFill>
                <a:latin typeface="Aptos"/>
              </a:defRPr>
            </a:pPr>
            <a:r>
              <a:t>Active after correction: 4.8% (96/2,000).</a:t>
            </a:r>
          </a:p>
        </p:txBody>
      </p:sp>
      <p:sp>
        <p:nvSpPr>
          <p:cNvPr id="22" name="Oval 21"/>
          <p:cNvSpPr/>
          <p:nvPr/>
        </p:nvSpPr>
        <p:spPr>
          <a:xfrm>
            <a:off x="8668512" y="5522976"/>
            <a:ext cx="91440" cy="91440"/>
          </a:xfrm>
          <a:prstGeom prst="ellipse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51392" y="5449824"/>
            <a:ext cx="245973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50" b="0" i="0">
                <a:solidFill>
                  <a:srgbClr val="1D2A3A"/>
                </a:solidFill>
                <a:latin typeface="Aptos"/>
              </a:defRPr>
            </a:pPr>
            <a:r>
              <a:t>A last-syndrome rule can add errors on fault types that do not affect the observable.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00A896"/>
                </a:solidFill>
                <a:latin typeface="Aptos"/>
              </a:defRPr>
            </a:pPr>
            <a:r>
              <a:t>07 ·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700" b="1" i="0">
                <a:solidFill>
                  <a:srgbClr val="10233F"/>
                </a:solidFill>
                <a:latin typeface="Aptos"/>
              </a:defRPr>
            </a:pPr>
            <a:r>
              <a:t>Evidence and integrity were part of the 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9728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0" i="0">
                <a:solidFill>
                  <a:srgbClr val="66758A"/>
                </a:solidFill>
                <a:latin typeface="Aptos"/>
              </a:defRPr>
            </a:pPr>
            <a:r>
              <a:t>The result package was designed to be auditable, not only to report a winning number.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7620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00" b="1" i="0">
                <a:solidFill>
                  <a:srgbClr val="8391A5"/>
                </a:solidFill>
                <a:latin typeface="Aptos"/>
              </a:defRPr>
            </a:pPr>
            <a:r>
              <a:t>Q-DECODEQEC  ·  IBM Qiskit Fall Fest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47104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8391A5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45920"/>
            <a:ext cx="2587752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68096" y="1856231"/>
            <a:ext cx="118872" cy="11887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029968"/>
            <a:ext cx="222199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900" b="1" i="0">
                <a:solidFill>
                  <a:srgbClr val="10233F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69464"/>
            <a:ext cx="22585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 i="0">
                <a:solidFill>
                  <a:srgbClr val="66758A"/>
                </a:solidFill>
                <a:latin typeface="Aptos"/>
              </a:defRPr>
            </a:pPr>
            <a:r>
              <a:t>data files hash-verified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645920"/>
            <a:ext cx="2587752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84448" y="1856231"/>
            <a:ext cx="118872" cy="118872"/>
          </a:xfrm>
          <a:prstGeom prst="ellipse">
            <a:avLst/>
          </a:prstGeom>
          <a:solidFill>
            <a:srgbClr val="48B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029968"/>
            <a:ext cx="222199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900" b="1" i="0">
                <a:solidFill>
                  <a:srgbClr val="10233F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2569464"/>
            <a:ext cx="22585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 i="0">
                <a:solidFill>
                  <a:srgbClr val="66758A"/>
                </a:solidFill>
                <a:latin typeface="Aptos"/>
              </a:defRPr>
            </a:pPr>
            <a:r>
              <a:t>evidence files indexed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645920"/>
            <a:ext cx="2587752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0" y="1856231"/>
            <a:ext cx="118872" cy="118872"/>
          </a:xfrm>
          <a:prstGeom prst="ellipse">
            <a:avLst/>
          </a:prstGeom>
          <a:solidFill>
            <a:srgbClr val="8A7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2029968"/>
            <a:ext cx="222199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900" b="1" i="0">
                <a:solidFill>
                  <a:srgbClr val="10233F"/>
                </a:solidFill>
                <a:latin typeface="Aptos"/>
              </a:defRPr>
            </a:pPr>
            <a:r>
              <a:t>8 /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2569464"/>
            <a:ext cx="22585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 i="0">
                <a:solidFill>
                  <a:srgbClr val="66758A"/>
                </a:solidFill>
                <a:latin typeface="Aptos"/>
              </a:defRPr>
            </a:pPr>
            <a:r>
              <a:t>matching graph tests passed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15984" y="1645920"/>
            <a:ext cx="2587752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17152" y="1856231"/>
            <a:ext cx="118872" cy="118872"/>
          </a:xfrm>
          <a:prstGeom prst="ellipse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98863" y="2029968"/>
            <a:ext cx="222199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900" b="1" i="0">
                <a:solidFill>
                  <a:srgbClr val="10233F"/>
                </a:solidFill>
                <a:latin typeface="Aptos"/>
              </a:defRPr>
            </a:pPr>
            <a:r>
              <a:t>2 /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2569464"/>
            <a:ext cx="22585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 i="0">
                <a:solidFill>
                  <a:srgbClr val="66758A"/>
                </a:solidFill>
                <a:latin typeface="Aptos"/>
              </a:defRPr>
            </a:pPr>
            <a:r>
              <a:t>IBM jobs re-queried and verified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493008"/>
            <a:ext cx="37490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700" b="1" i="0">
                <a:solidFill>
                  <a:srgbClr val="10233F"/>
                </a:solidFill>
                <a:latin typeface="Aptos"/>
              </a:defRPr>
            </a:pPr>
            <a:r>
              <a:t>Reproducibility 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59936"/>
            <a:ext cx="239572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0392" y="4224528"/>
            <a:ext cx="438912" cy="256032"/>
          </a:xfrm>
          <a:prstGeom prst="roundRect">
            <a:avLst/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" y="4256532"/>
            <a:ext cx="3657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 i="0">
                <a:solidFill>
                  <a:srgbClr val="00A89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4572000"/>
            <a:ext cx="20299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200" b="1" i="0">
                <a:solidFill>
                  <a:srgbClr val="10233F"/>
                </a:solidFill>
                <a:latin typeface="Aptos"/>
              </a:defRPr>
            </a:pPr>
            <a:r>
              <a:t>Audit input schema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" y="488289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0" i="0">
                <a:solidFill>
                  <a:srgbClr val="66758A"/>
                </a:solidFill>
                <a:latin typeface="Aptos"/>
              </a:defRPr>
            </a:pPr>
            <a:r>
              <a:t>exact detector-layout checks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08960" y="4636008"/>
            <a:ext cx="320040" cy="0"/>
          </a:xfrm>
          <a:prstGeom prst="line">
            <a:avLst/>
          </a:prstGeom>
          <a:ln w="21590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502152" y="4059936"/>
            <a:ext cx="239572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666744" y="4224528"/>
            <a:ext cx="438912" cy="256032"/>
          </a:xfrm>
          <a:prstGeom prst="roundRect">
            <a:avLst/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4256532"/>
            <a:ext cx="3657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 i="0">
                <a:solidFill>
                  <a:srgbClr val="00A89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66744" y="4572000"/>
            <a:ext cx="20299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200" b="1" i="0">
                <a:solidFill>
                  <a:srgbClr val="10233F"/>
                </a:solidFill>
                <a:latin typeface="Aptos"/>
              </a:defRPr>
            </a:pPr>
            <a:r>
              <a:t>Train / tune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66744" y="488289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0" i="0">
                <a:solidFill>
                  <a:srgbClr val="66758A"/>
                </a:solidFill>
                <a:latin typeface="Aptos"/>
              </a:defRPr>
            </a:pPr>
            <a:r>
              <a:t>fixed seeds · train-only tuning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25312" y="4636008"/>
            <a:ext cx="320040" cy="0"/>
          </a:xfrm>
          <a:prstGeom prst="line">
            <a:avLst/>
          </a:prstGeom>
          <a:ln w="21590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318504" y="4059936"/>
            <a:ext cx="239572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83096" y="4224528"/>
            <a:ext cx="438912" cy="256032"/>
          </a:xfrm>
          <a:prstGeom prst="roundRect">
            <a:avLst/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19672" y="4256532"/>
            <a:ext cx="3657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 i="0">
                <a:solidFill>
                  <a:srgbClr val="00A89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83096" y="4572000"/>
            <a:ext cx="20299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200" b="1" i="0">
                <a:solidFill>
                  <a:srgbClr val="10233F"/>
                </a:solidFill>
                <a:latin typeface="Aptos"/>
              </a:defRPr>
            </a:pPr>
            <a:r>
              <a:t>Freeze + hash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83096" y="488289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0" i="0">
                <a:solidFill>
                  <a:srgbClr val="66758A"/>
                </a:solidFill>
                <a:latin typeface="Aptos"/>
              </a:defRPr>
            </a:pPr>
            <a:r>
              <a:t>models and prediction manifests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741664" y="4636008"/>
            <a:ext cx="320040" cy="0"/>
          </a:xfrm>
          <a:prstGeom prst="line">
            <a:avLst/>
          </a:prstGeom>
          <a:ln w="21590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9134856" y="4059936"/>
            <a:ext cx="239572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299448" y="4224528"/>
            <a:ext cx="438912" cy="256032"/>
          </a:xfrm>
          <a:prstGeom prst="roundRect">
            <a:avLst/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36024" y="4256532"/>
            <a:ext cx="3657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 i="0">
                <a:solidFill>
                  <a:srgbClr val="00A89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99448" y="4572000"/>
            <a:ext cx="20299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200" b="1" i="0">
                <a:solidFill>
                  <a:srgbClr val="10233F"/>
                </a:solidFill>
                <a:latin typeface="Aptos"/>
              </a:defRPr>
            </a:pPr>
            <a:r>
              <a:t>Verify outputs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99448" y="488289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0" i="0">
                <a:solidFill>
                  <a:srgbClr val="66758A"/>
                </a:solidFill>
                <a:latin typeface="Aptos"/>
              </a:defRPr>
            </a:pPr>
            <a:r>
              <a:t>shot alignment · job ledger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" y="5486400"/>
            <a:ext cx="10899648" cy="576072"/>
          </a:xfrm>
          <a:prstGeom prst="roundRect">
            <a:avLst/>
          </a:prstGeom>
          <a:solidFill>
            <a:srgbClr val="FFF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2688" y="5660136"/>
            <a:ext cx="1040587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 i="0">
                <a:solidFill>
                  <a:srgbClr val="715317"/>
                </a:solidFill>
                <a:latin typeface="Aptos"/>
              </a:defRPr>
            </a:pPr>
            <a:r>
              <a:t>Final holdout: 2,000 rows were predicted only after model freeze. Because labels were not supplied, no final-test accuracy or LER is claimed.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00A896"/>
                </a:solidFill>
                <a:latin typeface="Aptos"/>
              </a:defRPr>
            </a:pPr>
            <a:r>
              <a:t>08 ·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700" b="1" i="0">
                <a:solidFill>
                  <a:srgbClr val="10233F"/>
                </a:solidFill>
                <a:latin typeface="Aptos"/>
              </a:defRPr>
            </a:pPr>
            <a:r>
              <a:t>Promising decoding gains, with honest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9728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0" i="0">
                <a:solidFill>
                  <a:srgbClr val="66758A"/>
                </a:solidFill>
                <a:latin typeface="Aptos"/>
              </a:defRPr>
            </a:pPr>
            <a:r>
              <a:t>The study demonstrates a reproducible small-code workflow—not quantum advantage or scalable fault tolerance.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7620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65392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00" b="1" i="0">
                <a:solidFill>
                  <a:srgbClr val="8391A5"/>
                </a:solidFill>
                <a:latin typeface="Aptos"/>
              </a:defRPr>
            </a:pPr>
            <a:r>
              <a:t>Q-DECODEQEC  ·  IBM Qiskit Fall Fest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47104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8391A5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09344"/>
            <a:ext cx="6446520" cy="4517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865376"/>
            <a:ext cx="5669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700" b="1" i="0">
                <a:solidFill>
                  <a:srgbClr val="10233F"/>
                </a:solidFill>
                <a:latin typeface="Aptos"/>
              </a:defRPr>
            </a:pPr>
            <a:r>
              <a:t>Three findings to remember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487168"/>
            <a:ext cx="384048" cy="38404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596896"/>
            <a:ext cx="3840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478024"/>
            <a:ext cx="4983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00" b="1" i="0">
                <a:solidFill>
                  <a:srgbClr val="10233F"/>
                </a:solidFill>
                <a:latin typeface="Aptos"/>
              </a:defRPr>
            </a:pPr>
            <a:r>
              <a:t>Decoding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779776"/>
            <a:ext cx="50017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0" i="0">
                <a:solidFill>
                  <a:srgbClr val="66758A"/>
                </a:solidFill>
                <a:latin typeface="Aptos"/>
              </a:defRPr>
            </a:pPr>
            <a:r>
              <a:t>Internal-test LER drops from 24.5% to 1.8–2.8%.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511296"/>
            <a:ext cx="384048" cy="384048"/>
          </a:xfrm>
          <a:prstGeom prst="ellipse">
            <a:avLst/>
          </a:prstGeom>
          <a:solidFill>
            <a:srgbClr val="48B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621024"/>
            <a:ext cx="3840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502152"/>
            <a:ext cx="4983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00" b="1" i="0">
                <a:solidFill>
                  <a:srgbClr val="10233F"/>
                </a:solidFill>
                <a:latin typeface="Aptos"/>
              </a:defRPr>
            </a:pPr>
            <a:r>
              <a:t>M1 is not a proven winner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803904"/>
            <a:ext cx="50017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0" i="0">
                <a:solidFill>
                  <a:srgbClr val="66758A"/>
                </a:solidFill>
                <a:latin typeface="Aptos"/>
              </a:defRPr>
            </a:pPr>
            <a:r>
              <a:t>Its 1.8% point estimate is not resolved from lookup or M0 by paired intervals.</a:t>
            </a:r>
          </a:p>
        </p:txBody>
      </p:sp>
      <p:sp>
        <p:nvSpPr>
          <p:cNvPr id="19" name="Oval 18"/>
          <p:cNvSpPr/>
          <p:nvPr/>
        </p:nvSpPr>
        <p:spPr>
          <a:xfrm>
            <a:off x="896112" y="4535424"/>
            <a:ext cx="384048" cy="384048"/>
          </a:xfrm>
          <a:prstGeom prst="ellipse">
            <a:avLst/>
          </a:prstGeom>
          <a:solidFill>
            <a:srgbClr val="E87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645152"/>
            <a:ext cx="3840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526280"/>
            <a:ext cx="4983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00" b="1" i="0">
                <a:solidFill>
                  <a:srgbClr val="10233F"/>
                </a:solidFill>
                <a:latin typeface="Aptos"/>
              </a:defRPr>
            </a:pPr>
            <a:r>
              <a:t>Hardware correction is nuanced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828032"/>
            <a:ext cx="50017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0" i="0">
                <a:solidFill>
                  <a:srgbClr val="66758A"/>
                </a:solidFill>
                <a:latin typeface="Aptos"/>
              </a:defRPr>
            </a:pPr>
            <a:r>
              <a:t>Active feedback reaches 4.8%; offline M0 reaches 1.8% on passive shots.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6912" y="1609344"/>
            <a:ext cx="4315968" cy="4517136"/>
          </a:xfrm>
          <a:prstGeom prst="roundRect">
            <a:avLst/>
          </a:prstGeom>
          <a:solidFill>
            <a:srgbClr val="10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16952" y="1901952"/>
            <a:ext cx="3611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25" name="Oval 24"/>
          <p:cNvSpPr/>
          <p:nvPr/>
        </p:nvSpPr>
        <p:spPr>
          <a:xfrm>
            <a:off x="7644383" y="2578608"/>
            <a:ext cx="91440" cy="914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27263" y="2505456"/>
            <a:ext cx="34107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0" i="0">
                <a:solidFill>
                  <a:srgbClr val="E6EDF5"/>
                </a:solidFill>
                <a:latin typeface="Aptos"/>
              </a:defRPr>
            </a:pPr>
            <a:r>
              <a:t>Collect more labelled shots across jobs and backends.</a:t>
            </a:r>
          </a:p>
        </p:txBody>
      </p:sp>
      <p:sp>
        <p:nvSpPr>
          <p:cNvPr id="27" name="Oval 26"/>
          <p:cNvSpPr/>
          <p:nvPr/>
        </p:nvSpPr>
        <p:spPr>
          <a:xfrm>
            <a:off x="7644383" y="3246120"/>
            <a:ext cx="91440" cy="914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27263" y="3172968"/>
            <a:ext cx="34107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0" i="0">
                <a:solidFill>
                  <a:srgbClr val="E6EDF5"/>
                </a:solidFill>
                <a:latin typeface="Aptos"/>
              </a:defRPr>
            </a:pPr>
            <a:r>
              <a:t>Test larger code distances and more syndrome rounds.</a:t>
            </a:r>
          </a:p>
        </p:txBody>
      </p:sp>
      <p:sp>
        <p:nvSpPr>
          <p:cNvPr id="29" name="Oval 28"/>
          <p:cNvSpPr/>
          <p:nvPr/>
        </p:nvSpPr>
        <p:spPr>
          <a:xfrm>
            <a:off x="7644383" y="3913632"/>
            <a:ext cx="91440" cy="914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27263" y="3840480"/>
            <a:ext cx="34107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0" i="0">
                <a:solidFill>
                  <a:srgbClr val="E6EDF5"/>
                </a:solidFill>
                <a:latin typeface="Aptos"/>
              </a:defRPr>
            </a:pPr>
            <a:r>
              <a:t>Refine active correction to avoid unnecessary X gates.</a:t>
            </a:r>
          </a:p>
        </p:txBody>
      </p:sp>
      <p:sp>
        <p:nvSpPr>
          <p:cNvPr id="31" name="Oval 30"/>
          <p:cNvSpPr/>
          <p:nvPr/>
        </p:nvSpPr>
        <p:spPr>
          <a:xfrm>
            <a:off x="7644383" y="4581144"/>
            <a:ext cx="91440" cy="914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27263" y="4507992"/>
            <a:ext cx="34107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0" i="0">
                <a:solidFill>
                  <a:srgbClr val="E6EDF5"/>
                </a:solidFill>
                <a:latin typeface="Aptos"/>
              </a:defRPr>
            </a:pPr>
            <a:r>
              <a:t>Profile M2 and test faster routing policies.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626096" y="5413248"/>
            <a:ext cx="3575304" cy="0"/>
          </a:xfrm>
          <a:prstGeom prst="line">
            <a:avLst/>
          </a:prstGeom>
          <a:ln w="12700">
            <a:solidFill>
              <a:srgbClr val="385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644383" y="561441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800" b="1" i="0">
                <a:solidFill>
                  <a:srgbClr val="7DE1D7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6236208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0" i="0">
                <a:solidFill>
                  <a:srgbClr val="66758A"/>
                </a:solidFill>
                <a:latin typeface="Aptos"/>
              </a:defRPr>
            </a:pPr>
            <a:r>
              <a:t>Q-DecodeQEC · Kaustubh Ladda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